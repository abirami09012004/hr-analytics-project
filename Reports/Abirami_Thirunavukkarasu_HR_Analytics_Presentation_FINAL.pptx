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4"/>
  </p:notesMasterIdLst>
  <p:sldIdLst>
    <p:sldId id="271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8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00"/>
    <a:srgbClr val="0066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B803E3-A519-48E8-B4B4-FFD20AC0BBB0}" v="79" dt="2026-09-28T10:28:16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89" autoAdjust="0"/>
  </p:normalViewPr>
  <p:slideViewPr>
    <p:cSldViewPr snapToGrid="0" snapToObjects="1">
      <p:cViewPr varScale="1">
        <p:scale>
          <a:sx n="82" d="100"/>
          <a:sy n="82" d="100"/>
        </p:scale>
        <p:origin x="691" y="1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56036-C163-4D8B-857D-0F7E8A4060B2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68925-DC29-45D9-9574-C3187E53D5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67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EDFD-D0DC-531F-0D3A-971BA1BE3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FF143-4AB5-E7CF-424D-6579AF424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96E83-2627-3CD6-EED8-A977B8EE7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27840-E7B0-654F-6818-A9ACD9877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68925-DC29-45D9-9574-C3187E53D5F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164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68925-DC29-45D9-9574-C3187E53D5F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652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B99F-F0F7-4416-8266-12DE5A45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4AB69-D711-B62B-BF25-340FE2109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1AB56-9656-83CF-4EEB-F34FD765A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30920-AE46-87C5-71AE-70DC9BC89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68925-DC29-45D9-9574-C3187E53D5F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580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68925-DC29-45D9-9574-C3187E53D5F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505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32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4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81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5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5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3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7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9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1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71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57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82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45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65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68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8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28/09/2026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8ED24-870F-D810-731E-44BCE23E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360" cy="6858000"/>
          </a:xfrm>
          <a:prstGeom prst="rect">
            <a:avLst/>
          </a:prstGeom>
          <a:solidFill>
            <a:srgbClr val="123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965960" y="-685800"/>
            <a:ext cx="1965960" cy="1965960"/>
          </a:xfrm>
          <a:prstGeom prst="ellipse">
            <a:avLst/>
          </a:prstGeom>
          <a:solidFill>
            <a:srgbClr val="E0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83080" y="4800600"/>
            <a:ext cx="1051560" cy="1051560"/>
          </a:xfrm>
          <a:prstGeom prst="ellipse">
            <a:avLst/>
          </a:prstGeom>
          <a:solidFill>
            <a:srgbClr val="E7B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12680" y="320040"/>
            <a:ext cx="502920" cy="502920"/>
          </a:xfrm>
          <a:prstGeom prst="ellipse">
            <a:avLst/>
          </a:prstGeom>
          <a:solidFill>
            <a:srgbClr val="1E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61320" y="5285232"/>
            <a:ext cx="256032" cy="256032"/>
          </a:xfrm>
          <a:prstGeom prst="ellipse">
            <a:avLst/>
          </a:prstGeom>
          <a:solidFill>
            <a:srgbClr val="E0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5488" y="1783080"/>
            <a:ext cx="566928" cy="50292"/>
          </a:xfrm>
          <a:prstGeom prst="rect">
            <a:avLst/>
          </a:prstGeom>
          <a:solidFill>
            <a:srgbClr val="E7B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" y="2029968"/>
            <a:ext cx="566928" cy="50292"/>
          </a:xfrm>
          <a:prstGeom prst="rect">
            <a:avLst/>
          </a:prstGeom>
          <a:solidFill>
            <a:srgbClr val="E0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2276856"/>
            <a:ext cx="566928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0400" y="1325880"/>
            <a:ext cx="7406640" cy="3977639"/>
          </a:xfrm>
          <a:prstGeom prst="roundRect">
            <a:avLst/>
          </a:prstGeom>
          <a:solidFill>
            <a:srgbClr val="E1E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90672" y="1207008"/>
            <a:ext cx="740664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90672" y="1207008"/>
            <a:ext cx="109728" cy="3977639"/>
          </a:xfrm>
          <a:prstGeom prst="rect">
            <a:avLst/>
          </a:prstGeom>
          <a:solidFill>
            <a:srgbClr val="E0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811512" y="1517904"/>
            <a:ext cx="164592" cy="164592"/>
          </a:xfrm>
          <a:prstGeom prst="roundRect">
            <a:avLst/>
          </a:prstGeom>
          <a:solidFill>
            <a:srgbClr val="1E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9256" y="1517904"/>
            <a:ext cx="164592" cy="164592"/>
          </a:xfrm>
          <a:prstGeom prst="roundRect">
            <a:avLst/>
          </a:prstGeom>
          <a:solidFill>
            <a:srgbClr val="E7B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87000" y="1517904"/>
            <a:ext cx="164592" cy="164592"/>
          </a:xfrm>
          <a:prstGeom prst="roundRect">
            <a:avLst/>
          </a:prstGeom>
          <a:solidFill>
            <a:srgbClr val="E0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74720" y="1975103"/>
            <a:ext cx="128016" cy="128016"/>
          </a:xfrm>
          <a:prstGeom prst="ellipse">
            <a:avLst/>
          </a:prstGeom>
          <a:solidFill>
            <a:srgbClr val="1E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30752" y="1874519"/>
            <a:ext cx="11887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 b="1">
                <a:solidFill>
                  <a:srgbClr val="123D42"/>
                </a:solidFill>
                <a:latin typeface="Aptos"/>
              </a:defRPr>
            </a:pPr>
            <a:r>
              <a:t>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1874519"/>
            <a:ext cx="201168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 b="1">
                <a:solidFill>
                  <a:srgbClr val="6F7A80"/>
                </a:solidFill>
                <a:latin typeface="Aptos"/>
              </a:defRPr>
            </a:pPr>
            <a: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1874519"/>
            <a:ext cx="513892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21303F"/>
                </a:solidFill>
                <a:latin typeface="Aptos"/>
              </a:defRPr>
            </a:pPr>
            <a:r>
              <a:rPr dirty="0"/>
              <a:t>ABIRAMI THIRUNAVUKKARASU</a:t>
            </a:r>
          </a:p>
        </p:txBody>
      </p:sp>
      <p:sp>
        <p:nvSpPr>
          <p:cNvPr id="21" name="Oval 20"/>
          <p:cNvSpPr/>
          <p:nvPr/>
        </p:nvSpPr>
        <p:spPr>
          <a:xfrm>
            <a:off x="3474720" y="2642615"/>
            <a:ext cx="128016" cy="128016"/>
          </a:xfrm>
          <a:prstGeom prst="ellipse">
            <a:avLst/>
          </a:prstGeom>
          <a:solidFill>
            <a:srgbClr val="1E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752" y="2542032"/>
            <a:ext cx="11887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 b="1">
                <a:solidFill>
                  <a:srgbClr val="123D42"/>
                </a:solidFill>
                <a:latin typeface="Aptos"/>
              </a:defRPr>
            </a:pPr>
            <a:r>
              <a:t>COURSE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4" y="2542032"/>
            <a:ext cx="201168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 b="1">
                <a:solidFill>
                  <a:srgbClr val="6F7A80"/>
                </a:solidFill>
                <a:latin typeface="Aptos"/>
              </a:defRPr>
            </a:pPr>
            <a: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2542032"/>
            <a:ext cx="513892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21303F"/>
                </a:solidFill>
                <a:latin typeface="Aptos"/>
              </a:defRPr>
            </a:pPr>
            <a:r>
              <a:rPr dirty="0"/>
              <a:t>DATA ANALYST (CDA)</a:t>
            </a:r>
          </a:p>
        </p:txBody>
      </p:sp>
      <p:sp>
        <p:nvSpPr>
          <p:cNvPr id="25" name="Oval 24"/>
          <p:cNvSpPr/>
          <p:nvPr/>
        </p:nvSpPr>
        <p:spPr>
          <a:xfrm>
            <a:off x="3474720" y="3310127"/>
            <a:ext cx="128016" cy="128016"/>
          </a:xfrm>
          <a:prstGeom prst="ellipse">
            <a:avLst/>
          </a:prstGeom>
          <a:solidFill>
            <a:srgbClr val="1E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30752" y="3209544"/>
            <a:ext cx="11887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 b="1">
                <a:solidFill>
                  <a:srgbClr val="123D42"/>
                </a:solidFill>
                <a:latin typeface="Aptos"/>
              </a:defRPr>
            </a:pPr>
            <a:r>
              <a:t>TEAM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8304" y="3209544"/>
            <a:ext cx="201168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 b="1">
                <a:solidFill>
                  <a:srgbClr val="6F7A80"/>
                </a:solidFill>
                <a:latin typeface="Aptos"/>
              </a:defRPr>
            </a:pPr>
            <a: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3209544"/>
            <a:ext cx="513892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>
                <a:solidFill>
                  <a:srgbClr val="21303F"/>
                </a:solidFill>
                <a:latin typeface="Aptos"/>
              </a:defRPr>
            </a:pPr>
            <a:r>
              <a:t>PTID-CDA-SEP-26-11202</a:t>
            </a:r>
          </a:p>
        </p:txBody>
      </p:sp>
      <p:sp>
        <p:nvSpPr>
          <p:cNvPr id="29" name="Oval 28"/>
          <p:cNvSpPr/>
          <p:nvPr/>
        </p:nvSpPr>
        <p:spPr>
          <a:xfrm>
            <a:off x="3474720" y="3977640"/>
            <a:ext cx="128016" cy="128016"/>
          </a:xfrm>
          <a:prstGeom prst="ellipse">
            <a:avLst/>
          </a:prstGeom>
          <a:solidFill>
            <a:srgbClr val="1E5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30752" y="3877056"/>
            <a:ext cx="11887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 b="1">
                <a:solidFill>
                  <a:srgbClr val="123D42"/>
                </a:solidFill>
                <a:latin typeface="Aptos"/>
              </a:defRPr>
            </a:pPr>
            <a:r>
              <a:t>BATCH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8304" y="3877056"/>
            <a:ext cx="201168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700" b="1">
                <a:solidFill>
                  <a:srgbClr val="6F7A80"/>
                </a:solidFill>
                <a:latin typeface="Aptos"/>
              </a:defRPr>
            </a:pPr>
            <a: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3877056"/>
            <a:ext cx="513892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>
                <a:solidFill>
                  <a:srgbClr val="21303F"/>
                </a:solidFill>
                <a:latin typeface="Aptos"/>
              </a:defRPr>
            </a:pPr>
            <a:r>
              <a:t>25-MAY-26-CDA-BUN-040-WDM1130-BAN-MAR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773168"/>
            <a:ext cx="6172200" cy="18288"/>
          </a:xfrm>
          <a:prstGeom prst="rect">
            <a:avLst/>
          </a:prstGeom>
          <a:solidFill>
            <a:srgbClr val="EB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59952" y="5879592"/>
            <a:ext cx="2057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F7A80"/>
                </a:solidFill>
                <a:latin typeface="Aptos"/>
              </a:defRPr>
            </a:pPr>
            <a:r>
              <a:t> | HR Analytics | Abirami Thirunavukkarasu   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526280"/>
            <a:ext cx="1051560" cy="91440"/>
          </a:xfrm>
          <a:prstGeom prst="roundRect">
            <a:avLst/>
          </a:prstGeom>
          <a:solidFill>
            <a:srgbClr val="E0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92746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41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lang="en-IN" sz="2000" b="1" dirty="0">
                <a:solidFill>
                  <a:srgbClr val="0B5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603145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6737D"/>
                </a:solidFill>
                <a:latin typeface="Aptos"/>
              </a:defRPr>
            </a:pPr>
            <a:r>
              <a:rPr lang="en-US" sz="2000" b="1" dirty="0">
                <a:solidFill>
                  <a:srgbClr val="0B5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BI-BASED DESCRIPTIVE HR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overall workforce size and average age.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the Remote versus Headquarters workforce mix.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year-wise hiring volume.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gender, state, department and race composition.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the dashboard into practical workforce-planning insights and recommendations.</a:t>
            </a:r>
            <a:endParaRPr lang="en-IN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83004" y="6473952"/>
            <a:ext cx="217559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 | HR Analytics | Abirami Thirunavukkarasu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63913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lang="en-IN" sz="2000" b="1" dirty="0">
                <a:solidFill>
                  <a:srgbClr val="0B5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KPI SNAPSHOT</a:t>
            </a:r>
          </a:p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endParaRPr sz="2200" b="1" dirty="0">
              <a:solidFill>
                <a:srgbClr val="0B5D5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3929" y="4408602"/>
            <a:ext cx="1380010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EMPLOYEES – 22.214K</a:t>
            </a:r>
            <a:b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organization has approximately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22,214 employees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providing an overall view of the current workforce size.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VS. HEADQUARTERS – 75.25% / 24.75%</a:t>
            </a:r>
            <a:b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Approximately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75.25% of employees work remotely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while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24.75% work at headquarters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indicating a predominantly remote workforce.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EMPLOYEE AGE – 38.43 YEARS</a:t>
            </a:r>
            <a:b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average employee age is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38.43 years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providing a high-level view of the workforce's overall age profile.</a:t>
            </a:r>
          </a:p>
          <a:p>
            <a:pPr>
              <a:defRPr sz="1050">
                <a:solidFill>
                  <a:srgbClr val="66737D"/>
                </a:solidFill>
                <a:latin typeface="Aptos"/>
              </a:defRPr>
            </a:pPr>
            <a:endParaRPr sz="1800" b="1" dirty="0">
              <a:solidFill>
                <a:srgbClr val="0B5D5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20685" y="6537960"/>
            <a:ext cx="215315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| HR Analytics | Abirami Thirunavukkarasu    3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551F48D-1DA3-9AEE-81FE-751D46FE8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170" y="1089481"/>
            <a:ext cx="9403494" cy="28916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4358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lang="en-IN" sz="2000" b="1" dirty="0">
                <a:solidFill>
                  <a:srgbClr val="0B5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HIRING TREND BY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5136632"/>
            <a:ext cx="10863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6737D"/>
                </a:solidFill>
                <a:latin typeface="Aptos"/>
              </a:defRPr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hiring trend shows relatively consistent hiring activity across most years, with moderate fluctuations and a slight decline toward 2020. This provides a clear view of how employee hiring levels changed over time.</a:t>
            </a:r>
            <a:endParaRPr lang="en-US" sz="1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83004" y="6473952"/>
            <a:ext cx="217559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 | HR Analytics | Abirami Thirunavukkarasu    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F4425-F7B3-CE4C-B6F3-03CE9B6CE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234" y="905871"/>
            <a:ext cx="5875529" cy="3939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FCA3E6-37FE-E7FD-F620-AEAE56E7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EB9007-0A0D-0A3F-7849-AEFB4F2BCCE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8609-58F8-D4D7-E723-476EA08C4E16}"/>
              </a:ext>
            </a:extLst>
          </p:cNvPr>
          <p:cNvSpPr txBox="1"/>
          <p:nvPr/>
        </p:nvSpPr>
        <p:spPr>
          <a:xfrm>
            <a:off x="502920" y="320040"/>
            <a:ext cx="318067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GENDER DISTRIBUTION</a:t>
            </a:r>
            <a:endParaRPr lang="en-IN" sz="2000" b="1" dirty="0">
              <a:solidFill>
                <a:srgbClr val="0B5D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2AAE4-8808-F722-9012-635170C22857}"/>
              </a:ext>
            </a:extLst>
          </p:cNvPr>
          <p:cNvSpPr txBox="1"/>
          <p:nvPr/>
        </p:nvSpPr>
        <p:spPr>
          <a:xfrm>
            <a:off x="9483004" y="6473952"/>
            <a:ext cx="217559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 | HR Analytics | Abirami Thirunavukkarasu    4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F95DD5A-7BCA-36FB-0104-05BC3175D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586" y="5241959"/>
            <a:ext cx="99805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workforce is composed of 50.81% male employees, 46.46% female employees, and 2.72% non-conforming employees, showing a relatively balanced distribution between male and female employees.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0CD262-A983-7C3A-4B17-0D4F93661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906" y="972115"/>
            <a:ext cx="5426809" cy="382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91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6304" y="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4182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EMPLOYEE RACIAL COMPOSITION</a:t>
            </a:r>
            <a:endParaRPr sz="2000" b="1" dirty="0">
              <a:solidFill>
                <a:srgbClr val="0B5D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9846" y="5163183"/>
            <a:ext cx="10535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6737D"/>
                </a:solidFill>
                <a:latin typeface="Aptos"/>
              </a:defRPr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workforce represents multiple racial groups, with White employees forming the largest group, followed by Two or More Races, Black or African American, and Asian employees.</a:t>
            </a:r>
            <a:endParaRPr sz="1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05446" y="6473952"/>
            <a:ext cx="215315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| HR Analytics | Abirami Thirunavukkarasu    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FB09E5-E11F-842B-6490-F989B6E97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379" y="909044"/>
            <a:ext cx="6058425" cy="3863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6172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lang="en-IN" sz="2000" b="1" dirty="0">
                <a:solidFill>
                  <a:srgbClr val="0B5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 WORKFORCE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5446" y="6473952"/>
            <a:ext cx="215315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| HR Analytics | Abirami Thirunavukkarasu    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DBC39A-D650-CD40-1ED6-B05D9C725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116" y="787195"/>
            <a:ext cx="6081287" cy="3939881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25CF75C9-B22A-3120-04DD-BC2C11DDB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39" y="5055142"/>
            <a:ext cx="107899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workforce is highly concentrated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Ohio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has the largest employee population by a significant margin. Pennsylvania and Illinois follow, while the remaining states have comparatively smaller employee counts, showing a strong geographic concentration of the workforce.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63025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lang="en-IN" sz="2000" b="1" dirty="0">
                <a:solidFill>
                  <a:srgbClr val="0B5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WORKFORCE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3004" y="6473952"/>
            <a:ext cx="217559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 | HR Analytics | Abirami Thirunavukkarasu    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DEE80D-DA0D-71CE-74EC-28F4E468E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082" y="888273"/>
            <a:ext cx="5959356" cy="3970364"/>
          </a:xfrm>
          <a:prstGeom prst="rect">
            <a:avLst/>
          </a:prstGeom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B72D67D1-6AF8-52BA-9EFD-ACB088409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969" y="5158463"/>
            <a:ext cx="1115568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Engineering has the largest employee workforce, followed by Accounting. Sales and Human Resources also have relatively high employee counts, while Legal and Auditing have the smallest workforce sizes. This shows a significant variation in workforce distribution across departments.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41CC7-F443-E46B-DF88-9927FCB3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BEE01F-FB92-20CB-AD4F-874B12E39E98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8D6E36-5562-F560-984F-E5E57B1766D7}"/>
              </a:ext>
            </a:extLst>
          </p:cNvPr>
          <p:cNvSpPr txBox="1"/>
          <p:nvPr/>
        </p:nvSpPr>
        <p:spPr>
          <a:xfrm>
            <a:off x="502920" y="320040"/>
            <a:ext cx="42905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HR ANALYTICS DASHBOARD</a:t>
            </a:r>
          </a:p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endParaRPr lang="en-IN" sz="2200" b="1" dirty="0">
              <a:solidFill>
                <a:srgbClr val="0B5D50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2133A-E1FE-5AD6-93E1-E14E04C7F2F8}"/>
              </a:ext>
            </a:extLst>
          </p:cNvPr>
          <p:cNvSpPr txBox="1"/>
          <p:nvPr/>
        </p:nvSpPr>
        <p:spPr>
          <a:xfrm>
            <a:off x="9505446" y="6473952"/>
            <a:ext cx="215315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| HR Analytics | Abirami Thirunavukkarasu    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C05D0D-CF24-786D-6822-096DAE401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42" y="750927"/>
            <a:ext cx="10074513" cy="546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61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3328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lang="en-IN" sz="2000" b="1" dirty="0">
                <a:solidFill>
                  <a:srgbClr val="0B5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40190"/>
            <a:ext cx="10954512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employees account for 75.25%, making remote-work operations a major workforce consideration.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Ohio is the dominant state in the displayed workforce, indicating strong geographic concentration.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has the largest department headcount by a clear margin.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 hiring volume is broadly stable after the initial jump, with a decline visible toward 2020.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8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Male and female employees account for 50.81% and 46.46% respectively; non-conforming employees account for 2.72%.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3004" y="6473952"/>
            <a:ext cx="217559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 | HR Analytics | Abirami Thirunavukkarasu   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8474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sz="2000" b="1" dirty="0">
                <a:solidFill>
                  <a:srgbClr val="0B5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IN" sz="2000" b="1" dirty="0">
                <a:solidFill>
                  <a:srgbClr val="0B5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ECOMMENDATIONS</a:t>
            </a:r>
            <a:endParaRPr sz="2000" b="1" dirty="0">
              <a:solidFill>
                <a:srgbClr val="0B5D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2457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year-wise hiring volumes to improve recruitment and workforce planning.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remote-work support, collaboration and headquarters capacity given the 75.25% remote share.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geographic concentration, especially the large Ohio workforce, when planning regional operations.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 department headcount alongside workload and attrition to identify changing staffing needs.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gender and race representation over time and segment by department, location and hiring cohort where appropriate.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 average age with tenure and attrition data for stronger succession and long-term workforce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5446" y="6473952"/>
            <a:ext cx="215315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| HR Analytics | Abirami Thirunavukkarasu   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-182880"/>
            <a:ext cx="12191999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9111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B6B5B"/>
                </a:solidFill>
                <a:latin typeface="Aptos Display"/>
              </a:defRPr>
            </a:pPr>
            <a:r>
              <a:rPr lang="en-IN" sz="2000" b="1" dirty="0">
                <a:solidFill>
                  <a:srgbClr val="0B5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sz="2000" b="1" dirty="0">
              <a:solidFill>
                <a:srgbClr val="0B5D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88136"/>
            <a:ext cx="1083564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21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dashboard provides a clear baseline of workforce size, location, age, hiring, department and demographic composition.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21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most prominent structural patterns are remote-work dominance, geographic concentration and the large Engineering workforce.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21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versions of the analysis can be strengthened with attrition, tenure, salary, performance, recruitment-source and open-position data.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2100">
                <a:solidFill>
                  <a:srgbClr val="24313A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additions would enable more actionable workforce planning beyond descriptive headcount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7050" y="6473952"/>
            <a:ext cx="2151550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37D"/>
                </a:solidFill>
                <a:latin typeface="Aptos"/>
              </a:defRPr>
            </a:pPr>
            <a:r>
              <a:rPr sz="800" dirty="0">
                <a:solidFill>
                  <a:srgbClr val="69747D"/>
                </a:solidFill>
                <a:latin typeface="Calibri"/>
              </a:rPr>
              <a:t>| HR Analytics | Abirami Thirunavukkarasu    10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183</TotalTime>
  <Words>691</Words>
  <Application>Microsoft Office PowerPoint</Application>
  <PresentationFormat>Widescreen</PresentationFormat>
  <Paragraphs>70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Wingdings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ABIRAMI</dc:creator>
  <cp:keywords/>
  <dc:description>generated using python-pptx</dc:description>
  <cp:lastModifiedBy>Abirami T</cp:lastModifiedBy>
  <cp:revision>4</cp:revision>
  <dcterms:created xsi:type="dcterms:W3CDTF">2013-01-27T09:14:16Z</dcterms:created>
  <dcterms:modified xsi:type="dcterms:W3CDTF">2026-09-28T10:57:26Z</dcterms:modified>
  <cp:category/>
</cp:coreProperties>
</file>